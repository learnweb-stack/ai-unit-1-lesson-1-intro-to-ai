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Explain that this deck has clickable navigation — the menu on slide 2 lets you jump to any topic, and every slide has a small home icon (bottom right) to return to the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core definition. Emphasize: AI systems use information to reason/learn/decide, rather than blindly following one script. Preview the everyday examples — we'll dig into many more application areas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trait. Ask students: does a basic pocket calculator perceive/reason/learn/adapt? (No — it just executes fixed math rules; this sets up the AI vs Automation contrast on the next slide.)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richer debate for the discussion board: today's AI is 'narrow' — excellent at one task, with no real understanding outside it. Contrast with hypothetical 'general' intelligence to give students a framework for questioning what 'intelligent' really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contrast: automation = fixed rule, same output every time. AI = uses data to reason/learn, output can change/improve. Walk through the three row examples, then move to the quick-check quiz.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students the 'stakes' framing they need for discussion questions 3 and 4 — it's not just definitions, it's about trust, predictability, and who's accountable when a system gets something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discuss each of the four examples in pairs before clicking through to the answers. Look for the key signal: does it follow one fixed rule (automation) or does it sense/adapt/learn from data (AI)?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pattern with students: automation = one fixed rule; AI = senses data and adapts/learns. Transition into real-world application areas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for one more example in each of these three categories before moving on. Next slide covers healthcare, transportation, and entertainment.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Discuss: which of these six categories touches the students' lives most directly right now? Transition into 'how does it actually work under the hood.'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anchor for discussion question 5, which asks for one benefit AND one risk/consideration per area. Have students pick a row and argue whether the benefit is worth the trade-off.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data goes in, an algorithm finds patterns in it, the result is a trained model, and that model makes predictions on brand-new input it hasn't seen before. Next slide explains each piece in a bit more depth with a concrete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concrete example reinforces the abstract pipeline from the previous slide. Emphasize that the patterns are learned, not manually programmed — that's the key distinction from traditional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concrete, well-documented examples for discussion question 8 (training data and bias). Encourage students to brainstorm other examples of what 'incomplete' training data might look like in a system they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nesting: Deep Learning is a subset of Machine Learning. Computer Vision, NLP, and Generative AI are application areas that often use deep learning underneath. A quiz on matching these follows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directly supports discussion question 9 — students pick an app they use and identify which type(s) of AI it relies on. Point out that most modern products blend multiple types rather than using just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justify their answer with a reason, not just a label — e.g. 'facial unlock is Computer Vision because it's interpreting an image.'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real products blend types — e.g. a voice assistant uses NLP to understand you and Generative AI to compose a spoken reply.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review before class discussion or homework: cold-call students to restate one takeaway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Use the back-to-menu button to revisit any section live, or to give students a moment to retry the quizzes.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4" Type="http://schemas.openxmlformats.org/officeDocument/2006/relationships/slide" Target="slide3.xml"/><Relationship Id="rId5" Type="http://schemas.openxmlformats.org/officeDocument/2006/relationships/slide" Target="slide3.xml"/><Relationship Id="rId6" Type="http://schemas.openxmlformats.org/officeDocument/2006/relationships/slide" Target="slide3.xml"/><Relationship Id="rId7" Type="http://schemas.openxmlformats.org/officeDocument/2006/relationships/slide" Target="slide3.xml"/><Relationship Id="rId8" Type="http://schemas.openxmlformats.org/officeDocument/2006/relationships/slide" Target="slide6.xml"/><Relationship Id="rId9" Type="http://schemas.openxmlformats.org/officeDocument/2006/relationships/slide" Target="slide6.xml"/><Relationship Id="rId11" Type="http://schemas.openxmlformats.org/officeDocument/2006/relationships/slide" Target="slide6.xml"/><Relationship Id="rId12" Type="http://schemas.openxmlformats.org/officeDocument/2006/relationships/slide" Target="slide6.xml"/><Relationship Id="rId13" Type="http://schemas.openxmlformats.org/officeDocument/2006/relationships/slide" Target="slide6.xml"/><Relationship Id="rId14" Type="http://schemas.openxmlformats.org/officeDocument/2006/relationships/slide" Target="slide6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8" Type="http://schemas.openxmlformats.org/officeDocument/2006/relationships/slide" Target="slide10.xml"/><Relationship Id="rId19" Type="http://schemas.openxmlformats.org/officeDocument/2006/relationships/slide" Target="slide10.xml"/><Relationship Id="rId20" Type="http://schemas.openxmlformats.org/officeDocument/2006/relationships/slide" Target="slide10.xml"/><Relationship Id="rId21" Type="http://schemas.openxmlformats.org/officeDocument/2006/relationships/slide" Target="slide10.xml"/><Relationship Id="rId22" Type="http://schemas.openxmlformats.org/officeDocument/2006/relationships/slide" Target="slide13.xml"/><Relationship Id="rId23" Type="http://schemas.openxmlformats.org/officeDocument/2006/relationships/slide" Target="slide13.xml"/><Relationship Id="rId25" Type="http://schemas.openxmlformats.org/officeDocument/2006/relationships/slide" Target="slide13.xml"/><Relationship Id="rId26" Type="http://schemas.openxmlformats.org/officeDocument/2006/relationships/slide" Target="slide13.xml"/><Relationship Id="rId27" Type="http://schemas.openxmlformats.org/officeDocument/2006/relationships/slide" Target="slide13.xml"/><Relationship Id="rId28" Type="http://schemas.openxmlformats.org/officeDocument/2006/relationships/slide" Target="slide13.xml"/><Relationship Id="rId29" Type="http://schemas.openxmlformats.org/officeDocument/2006/relationships/slide" Target="slide16.xml"/><Relationship Id="rId30" Type="http://schemas.openxmlformats.org/officeDocument/2006/relationships/slide" Target="slide16.xml"/><Relationship Id="rId32" Type="http://schemas.openxmlformats.org/officeDocument/2006/relationships/slide" Target="slide16.xml"/><Relationship Id="rId33" Type="http://schemas.openxmlformats.org/officeDocument/2006/relationships/slide" Target="slide16.xml"/><Relationship Id="rId34" Type="http://schemas.openxmlformats.org/officeDocument/2006/relationships/slide" Target="slide16.xml"/><Relationship Id="rId35" Type="http://schemas.openxmlformats.org/officeDocument/2006/relationships/slide" Target="slide16.xml"/><Relationship Id="rId36" Type="http://schemas.openxmlformats.org/officeDocument/2006/relationships/slide" Target="slide8.xml"/><Relationship Id="rId37" Type="http://schemas.openxmlformats.org/officeDocument/2006/relationships/slide" Target="slide8.xml"/><Relationship Id="rId39" Type="http://schemas.openxmlformats.org/officeDocument/2006/relationships/slide" Target="slide8.xml"/><Relationship Id="rId40" Type="http://schemas.openxmlformats.org/officeDocument/2006/relationships/slide" Target="slide8.xml"/><Relationship Id="rId41" Type="http://schemas.openxmlformats.org/officeDocument/2006/relationships/slide" Target="slide8.xml"/><Relationship Id="rId42" Type="http://schemas.openxmlformats.org/officeDocument/2006/relationships/slide" Target="slide8.xml"/><Relationship Id="rId3" Type="http://schemas.openxmlformats.org/officeDocument/2006/relationships/image" Target="../media/image-2-1.png"/><Relationship Id="rId10" Type="http://schemas.openxmlformats.org/officeDocument/2006/relationships/image" Target="../media/image-2-2.png"/><Relationship Id="rId17" Type="http://schemas.openxmlformats.org/officeDocument/2006/relationships/image" Target="../media/image-2-3.png"/><Relationship Id="rId24" Type="http://schemas.openxmlformats.org/officeDocument/2006/relationships/image" Target="../media/image-2-4.png"/><Relationship Id="rId31" Type="http://schemas.openxmlformats.org/officeDocument/2006/relationships/image" Target="../media/image-2-5.png"/><Relationship Id="rId38" Type="http://schemas.openxmlformats.org/officeDocument/2006/relationships/image" Target="../media/image-2-6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5" Type="http://schemas.openxmlformats.org/officeDocument/2006/relationships/slide" Target="slide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image" Target="../media/image-4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5" Type="http://schemas.openxmlformats.org/officeDocument/2006/relationships/slide" Target="slide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5" Type="http://schemas.openxmlformats.org/officeDocument/2006/relationships/slide" Target="slide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5" Type="http://schemas.openxmlformats.org/officeDocument/2006/relationships/slide" Target="slide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9.xml"/><Relationship Id="rId3" Type="http://schemas.openxmlformats.org/officeDocument/2006/relationships/slide" Target="slide2.xml"/><Relationship Id="rId5" Type="http://schemas.openxmlformats.org/officeDocument/2006/relationships/slide" Target="slide2.xml"/><Relationship Id="rId4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image" Target="../media/image-9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6" Type="http://schemas.openxmlformats.org/officeDocument/2006/relationships/slide" Target="slide2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image" Target="../media/image-10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6" Type="http://schemas.openxmlformats.org/officeDocument/2006/relationships/slide" Target="slide2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5" Type="http://schemas.openxmlformats.org/officeDocument/2006/relationships/image" Target="../media/image-11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2" Type="http://schemas.openxmlformats.org/officeDocument/2006/relationships/image" Target="../media/image-1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6" Type="http://schemas.openxmlformats.org/officeDocument/2006/relationships/image" Target="../media/image-13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6" Type="http://schemas.openxmlformats.org/officeDocument/2006/relationships/image" Target="../media/image-14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5" Type="http://schemas.openxmlformats.org/officeDocument/2006/relationships/slide" Target="slide2.xml"/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4" Type="http://schemas.openxmlformats.org/officeDocument/2006/relationships/image" Target="../media/image-15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" Target="slide2.xml"/><Relationship Id="rId8" Type="http://schemas.openxmlformats.org/officeDocument/2006/relationships/slide" Target="slide2.xml"/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7" Type="http://schemas.openxmlformats.org/officeDocument/2006/relationships/image" Target="../media/image-16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3" Type="http://schemas.openxmlformats.org/officeDocument/2006/relationships/slide" Target="slide2.xml"/><Relationship Id="rId2" Type="http://schemas.openxmlformats.org/officeDocument/2006/relationships/image" Target="../media/image-1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9.xml"/><Relationship Id="rId2" Type="http://schemas.openxmlformats.org/officeDocument/2006/relationships/slide" Target="slide19.xml"/><Relationship Id="rId3" Type="http://schemas.openxmlformats.org/officeDocument/2006/relationships/slide" Target="slide2.xml"/><Relationship Id="rId5" Type="http://schemas.openxmlformats.org/officeDocument/2006/relationships/slide" Target="slide2.xml"/><Relationship Id="rId4" Type="http://schemas.openxmlformats.org/officeDocument/2006/relationships/image" Target="../media/image-1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7" Type="http://schemas.openxmlformats.org/officeDocument/2006/relationships/slide" Target="slide2.xm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6" Type="http://schemas.openxmlformats.org/officeDocument/2006/relationships/image" Target="../media/image-19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" Target="slide2.xml"/><Relationship Id="rId8" Type="http://schemas.openxmlformats.org/officeDocument/2006/relationships/slide" Target="slide2.xm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7" Type="http://schemas.openxmlformats.org/officeDocument/2006/relationships/image" Target="../media/image-20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486400" cy="5486400"/>
          </a:xfrm>
          <a:prstGeom prst="ellipse">
            <a:avLst/>
          </a:prstGeom>
          <a:solidFill>
            <a:srgbClr val="6C5CE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00D9C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INTRODUCTION TO COMPUTER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machine “intelligent”—and how can you tell?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777240" cy="777240"/>
          </a:xfrm>
          <a:prstGeom prst="ellipse">
            <a:avLst/>
          </a:prstGeom>
          <a:solidFill>
            <a:srgbClr val="183B61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433425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983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51760" y="4160520"/>
            <a:ext cx="777240" cy="777240"/>
          </a:xfrm>
          <a:prstGeom prst="ellipse">
            <a:avLst/>
          </a:prstGeom>
          <a:solidFill>
            <a:srgbClr val="183B61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96" y="4334256"/>
            <a:ext cx="429768" cy="4297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31720" y="4983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480560" y="4160520"/>
            <a:ext cx="777240" cy="777240"/>
          </a:xfrm>
          <a:prstGeom prst="ellipse">
            <a:avLst/>
          </a:prstGeom>
          <a:solidFill>
            <a:srgbClr val="183B61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4334256"/>
            <a:ext cx="429768" cy="4297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60520" y="4983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309360" y="4160520"/>
            <a:ext cx="777240" cy="777240"/>
          </a:xfrm>
          <a:prstGeom prst="ellipse">
            <a:avLst/>
          </a:prstGeom>
          <a:solidFill>
            <a:srgbClr val="183B61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334256"/>
            <a:ext cx="429768" cy="4297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89320" y="4983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8138160" y="4160520"/>
            <a:ext cx="777240" cy="777240"/>
          </a:xfrm>
          <a:prstGeom prst="ellipse">
            <a:avLst/>
          </a:prstGeom>
          <a:solidFill>
            <a:srgbClr val="183B61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4334256"/>
            <a:ext cx="429768" cy="4297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18120" y="4983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topic on the next slide to jump right to it — this deck is fully interactive.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LIKE TO START?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Menu</a:t>
            </a:r>
            <a:endParaRPr lang="en-US" sz="3600" dirty="0"/>
          </a:p>
        </p:txBody>
      </p:sp>
      <p:sp>
        <p:nvSpPr>
          <p:cNvPr id="4" name="Shape 2">
            <a:hlinkClick r:id="rId1" tooltip="" action="ppaction://hlinksldjump"/>
          </p:cNvPr>
          <p:cNvSpPr/>
          <p:nvPr/>
        </p:nvSpPr>
        <p:spPr>
          <a:xfrm>
            <a:off x="777240" y="19659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sp>
        <p:nvSpPr>
          <p:cNvPr id="5" name="Shape 3">
            <a:hlinkClick r:id="rId2" tooltip="" action="ppaction://hlinksldjump"/>
          </p:cNvPr>
          <p:cNvSpPr/>
          <p:nvPr/>
        </p:nvSpPr>
        <p:spPr>
          <a:xfrm>
            <a:off x="1005840" y="2286000"/>
            <a:ext cx="640080" cy="6400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6" name="Image 0" descr="preencoded.png">
            <a:hlinkClick r:id="rId4" tooltip="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23160"/>
            <a:ext cx="365760" cy="365760"/>
          </a:xfrm>
          <a:prstGeom prst="rect">
            <a:avLst/>
          </a:prstGeom>
        </p:spPr>
      </p:pic>
      <p:sp>
        <p:nvSpPr>
          <p:cNvPr id="7" name="Text 4">
            <a:hlinkClick r:id="rId5" tooltip="" action="ppaction://hlinksldjump"/>
          </p:cNvPr>
          <p:cNvSpPr/>
          <p:nvPr/>
        </p:nvSpPr>
        <p:spPr>
          <a:xfrm>
            <a:off x="365760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u="sng" dirty="0">
                <a:solidFill>
                  <a:srgbClr val="6C72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01</a:t>
            </a:r>
            <a:endParaRPr lang="en-US" sz="1100" dirty="0"/>
          </a:p>
        </p:txBody>
      </p:sp>
      <p:sp>
        <p:nvSpPr>
          <p:cNvPr id="8" name="Text 5">
            <a:hlinkClick r:id="rId6" tooltip="" action="ppaction://hlinksldjump"/>
          </p:cNvPr>
          <p:cNvSpPr/>
          <p:nvPr/>
        </p:nvSpPr>
        <p:spPr>
          <a:xfrm>
            <a:off x="1783080" y="2258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AI?</a:t>
            </a:r>
            <a:endParaRPr lang="en-US" sz="1450" dirty="0"/>
          </a:p>
        </p:txBody>
      </p:sp>
      <p:sp>
        <p:nvSpPr>
          <p:cNvPr id="9" name="Text 6">
            <a:hlinkClick r:id="rId7" tooltip="" action="ppaction://hlinksldjump"/>
          </p:cNvPr>
          <p:cNvSpPr/>
          <p:nvPr/>
        </p:nvSpPr>
        <p:spPr>
          <a:xfrm>
            <a:off x="17830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Define AI &amp; what makes a system “intelligent.”</a:t>
            </a:r>
            <a:endParaRPr lang="en-US" sz="1050" dirty="0"/>
          </a:p>
        </p:txBody>
      </p:sp>
      <p:sp>
        <p:nvSpPr>
          <p:cNvPr id="10" name="Shape 7">
            <a:hlinkClick r:id="rId8" tooltip="" action="ppaction://hlinksldjump"/>
          </p:cNvPr>
          <p:cNvSpPr/>
          <p:nvPr/>
        </p:nvSpPr>
        <p:spPr>
          <a:xfrm>
            <a:off x="4663440" y="19659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sp>
        <p:nvSpPr>
          <p:cNvPr id="11" name="Shape 8">
            <a:hlinkClick r:id="rId9" tooltip="" action="ppaction://hlinksldjump"/>
          </p:cNvPr>
          <p:cNvSpPr/>
          <p:nvPr/>
        </p:nvSpPr>
        <p:spPr>
          <a:xfrm>
            <a:off x="4892040" y="2286000"/>
            <a:ext cx="640080" cy="6400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12" name="Image 1" descr="preencoded.png">
            <a:hlinkClick r:id="rId11" tooltip="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2423160"/>
            <a:ext cx="365760" cy="365760"/>
          </a:xfrm>
          <a:prstGeom prst="rect">
            <a:avLst/>
          </a:prstGeom>
        </p:spPr>
      </p:pic>
      <p:sp>
        <p:nvSpPr>
          <p:cNvPr id="13" name="Text 9">
            <a:hlinkClick r:id="rId12" tooltip="" action="ppaction://hlinksldjump"/>
          </p:cNvPr>
          <p:cNvSpPr/>
          <p:nvPr/>
        </p:nvSpPr>
        <p:spPr>
          <a:xfrm>
            <a:off x="754380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u="sng" dirty="0">
                <a:solidFill>
                  <a:srgbClr val="6C72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02</a:t>
            </a:r>
            <a:endParaRPr lang="en-US" sz="1100" dirty="0"/>
          </a:p>
        </p:txBody>
      </p:sp>
      <p:sp>
        <p:nvSpPr>
          <p:cNvPr id="14" name="Text 10">
            <a:hlinkClick r:id="rId13" tooltip="" action="ppaction://hlinksldjump"/>
          </p:cNvPr>
          <p:cNvSpPr/>
          <p:nvPr/>
        </p:nvSpPr>
        <p:spPr>
          <a:xfrm>
            <a:off x="5669280" y="2258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vs. Automation</a:t>
            </a:r>
            <a:endParaRPr lang="en-US" sz="1450" dirty="0"/>
          </a:p>
        </p:txBody>
      </p:sp>
      <p:sp>
        <p:nvSpPr>
          <p:cNvPr id="15" name="Text 11">
            <a:hlinkClick r:id="rId14" tooltip="" action="ppaction://hlinksldjump"/>
          </p:cNvPr>
          <p:cNvSpPr/>
          <p:nvPr/>
        </p:nvSpPr>
        <p:spPr>
          <a:xfrm>
            <a:off x="56692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Spot the difference — and why it matters.</a:t>
            </a:r>
            <a:endParaRPr lang="en-US" sz="1050" dirty="0"/>
          </a:p>
        </p:txBody>
      </p:sp>
      <p:sp>
        <p:nvSpPr>
          <p:cNvPr id="16" name="Shape 12">
            <a:hlinkClick r:id="rId15" tooltip="" action="ppaction://hlinksldjump"/>
          </p:cNvPr>
          <p:cNvSpPr/>
          <p:nvPr/>
        </p:nvSpPr>
        <p:spPr>
          <a:xfrm>
            <a:off x="8549640" y="196596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sp>
        <p:nvSpPr>
          <p:cNvPr id="17" name="Shape 13">
            <a:hlinkClick r:id="rId16" tooltip="" action="ppaction://hlinksldjump"/>
          </p:cNvPr>
          <p:cNvSpPr/>
          <p:nvPr/>
        </p:nvSpPr>
        <p:spPr>
          <a:xfrm>
            <a:off x="8778240" y="2286000"/>
            <a:ext cx="640080" cy="6400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18" name="Image 2" descr="preencoded.png">
            <a:hlinkClick r:id="rId18" tooltip="" action="ppaction://hlinksldjump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15400" y="2423160"/>
            <a:ext cx="365760" cy="365760"/>
          </a:xfrm>
          <a:prstGeom prst="rect">
            <a:avLst/>
          </a:prstGeom>
        </p:spPr>
      </p:pic>
      <p:sp>
        <p:nvSpPr>
          <p:cNvPr id="19" name="Text 14">
            <a:hlinkClick r:id="rId19" tooltip="" action="ppaction://hlinksldjump"/>
          </p:cNvPr>
          <p:cNvSpPr/>
          <p:nvPr/>
        </p:nvSpPr>
        <p:spPr>
          <a:xfrm>
            <a:off x="1143000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u="sng" dirty="0">
                <a:solidFill>
                  <a:srgbClr val="6C72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1100" dirty="0"/>
          </a:p>
        </p:txBody>
      </p:sp>
      <p:sp>
        <p:nvSpPr>
          <p:cNvPr id="20" name="Text 15">
            <a:hlinkClick r:id="rId20" tooltip="" action="ppaction://hlinksldjump"/>
          </p:cNvPr>
          <p:cNvSpPr/>
          <p:nvPr/>
        </p:nvSpPr>
        <p:spPr>
          <a:xfrm>
            <a:off x="9555480" y="2258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in Everyday Life</a:t>
            </a:r>
            <a:endParaRPr lang="en-US" sz="1450" dirty="0"/>
          </a:p>
        </p:txBody>
      </p:sp>
      <p:sp>
        <p:nvSpPr>
          <p:cNvPr id="21" name="Text 16">
            <a:hlinkClick r:id="rId21" tooltip="" action="ppaction://hlinksldjump"/>
          </p:cNvPr>
          <p:cNvSpPr/>
          <p:nvPr/>
        </p:nvSpPr>
        <p:spPr>
          <a:xfrm>
            <a:off x="9555480" y="2743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School, business, healthcare &amp; more.</a:t>
            </a:r>
            <a:endParaRPr lang="en-US" sz="1050" dirty="0"/>
          </a:p>
        </p:txBody>
      </p:sp>
      <p:sp>
        <p:nvSpPr>
          <p:cNvPr id="22" name="Shape 17">
            <a:hlinkClick r:id="rId22" tooltip="" action="ppaction://hlinksldjump"/>
          </p:cNvPr>
          <p:cNvSpPr/>
          <p:nvPr/>
        </p:nvSpPr>
        <p:spPr>
          <a:xfrm>
            <a:off x="777240" y="38404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sp>
        <p:nvSpPr>
          <p:cNvPr id="23" name="Shape 18">
            <a:hlinkClick r:id="rId23" tooltip="" action="ppaction://hlinksldjump"/>
          </p:cNvPr>
          <p:cNvSpPr/>
          <p:nvPr/>
        </p:nvSpPr>
        <p:spPr>
          <a:xfrm>
            <a:off x="1005840" y="4160520"/>
            <a:ext cx="640080" cy="6400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24" name="Image 3" descr="preencoded.png">
            <a:hlinkClick r:id="rId25" tooltip="" action="ppaction://hlinksldjump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43000" y="4297680"/>
            <a:ext cx="365760" cy="365760"/>
          </a:xfrm>
          <a:prstGeom prst="rect">
            <a:avLst/>
          </a:prstGeom>
        </p:spPr>
      </p:pic>
      <p:sp>
        <p:nvSpPr>
          <p:cNvPr id="25" name="Text 19">
            <a:hlinkClick r:id="rId26" tooltip="" action="ppaction://hlinksldjump"/>
          </p:cNvPr>
          <p:cNvSpPr/>
          <p:nvPr/>
        </p:nvSpPr>
        <p:spPr>
          <a:xfrm>
            <a:off x="3657600" y="3977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u="sng" dirty="0">
                <a:solidFill>
                  <a:srgbClr val="6C72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1100" dirty="0"/>
          </a:p>
        </p:txBody>
      </p:sp>
      <p:sp>
        <p:nvSpPr>
          <p:cNvPr id="26" name="Text 20">
            <a:hlinkClick r:id="rId27" tooltip="" action="ppaction://hlinksldjump"/>
          </p:cNvPr>
          <p:cNvSpPr/>
          <p:nvPr/>
        </p:nvSpPr>
        <p:spPr>
          <a:xfrm>
            <a:off x="178308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AI Works</a:t>
            </a:r>
            <a:endParaRPr lang="en-US" sz="1450" dirty="0"/>
          </a:p>
        </p:txBody>
      </p:sp>
      <p:sp>
        <p:nvSpPr>
          <p:cNvPr id="27" name="Text 21">
            <a:hlinkClick r:id="rId28" tooltip="" action="ppaction://hlinksldjump"/>
          </p:cNvPr>
          <p:cNvSpPr/>
          <p:nvPr/>
        </p:nvSpPr>
        <p:spPr>
          <a:xfrm>
            <a:off x="1783080" y="4617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Data, algorithms, models — and bias.</a:t>
            </a:r>
            <a:endParaRPr lang="en-US" sz="1050" dirty="0"/>
          </a:p>
        </p:txBody>
      </p:sp>
      <p:sp>
        <p:nvSpPr>
          <p:cNvPr id="28" name="Shape 22">
            <a:hlinkClick r:id="rId29" tooltip="" action="ppaction://hlinksldjump"/>
          </p:cNvPr>
          <p:cNvSpPr/>
          <p:nvPr/>
        </p:nvSpPr>
        <p:spPr>
          <a:xfrm>
            <a:off x="4663440" y="38404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sp>
        <p:nvSpPr>
          <p:cNvPr id="29" name="Shape 23">
            <a:hlinkClick r:id="rId30" tooltip="" action="ppaction://hlinksldjump"/>
          </p:cNvPr>
          <p:cNvSpPr/>
          <p:nvPr/>
        </p:nvSpPr>
        <p:spPr>
          <a:xfrm>
            <a:off x="4892040" y="4160520"/>
            <a:ext cx="640080" cy="6400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30" name="Image 4" descr="preencoded.png">
            <a:hlinkClick r:id="rId32" tooltip="" action="ppaction://hlinksldjump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029200" y="4297680"/>
            <a:ext cx="365760" cy="365760"/>
          </a:xfrm>
          <a:prstGeom prst="rect">
            <a:avLst/>
          </a:prstGeom>
        </p:spPr>
      </p:pic>
      <p:sp>
        <p:nvSpPr>
          <p:cNvPr id="31" name="Text 24">
            <a:hlinkClick r:id="rId33" tooltip="" action="ppaction://hlinksldjump"/>
          </p:cNvPr>
          <p:cNvSpPr/>
          <p:nvPr/>
        </p:nvSpPr>
        <p:spPr>
          <a:xfrm>
            <a:off x="7543800" y="3977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u="sng" dirty="0">
                <a:solidFill>
                  <a:srgbClr val="6C72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1100" dirty="0"/>
          </a:p>
        </p:txBody>
      </p:sp>
      <p:sp>
        <p:nvSpPr>
          <p:cNvPr id="32" name="Text 25">
            <a:hlinkClick r:id="rId34" tooltip="" action="ppaction://hlinksldjump"/>
          </p:cNvPr>
          <p:cNvSpPr/>
          <p:nvPr/>
        </p:nvSpPr>
        <p:spPr>
          <a:xfrm>
            <a:off x="566928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Types of AI</a:t>
            </a:r>
            <a:endParaRPr lang="en-US" sz="1450" dirty="0"/>
          </a:p>
        </p:txBody>
      </p:sp>
      <p:sp>
        <p:nvSpPr>
          <p:cNvPr id="33" name="Text 26">
            <a:hlinkClick r:id="rId35" tooltip="" action="ppaction://hlinksldjump"/>
          </p:cNvPr>
          <p:cNvSpPr/>
          <p:nvPr/>
        </p:nvSpPr>
        <p:spPr>
          <a:xfrm>
            <a:off x="5669280" y="4617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ML, deep learning, vision, NLP, GenAI.</a:t>
            </a:r>
            <a:endParaRPr lang="en-US" sz="1050" dirty="0"/>
          </a:p>
        </p:txBody>
      </p:sp>
      <p:sp>
        <p:nvSpPr>
          <p:cNvPr id="34" name="Shape 27">
            <a:hlinkClick r:id="rId36" tooltip="" action="ppaction://hlinksldjump"/>
          </p:cNvPr>
          <p:cNvSpPr/>
          <p:nvPr/>
        </p:nvSpPr>
        <p:spPr>
          <a:xfrm>
            <a:off x="8549640" y="38404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sp>
        <p:nvSpPr>
          <p:cNvPr id="35" name="Shape 28">
            <a:hlinkClick r:id="rId37" tooltip="" action="ppaction://hlinksldjump"/>
          </p:cNvPr>
          <p:cNvSpPr/>
          <p:nvPr/>
        </p:nvSpPr>
        <p:spPr>
          <a:xfrm>
            <a:off x="8778240" y="4160520"/>
            <a:ext cx="640080" cy="640080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0D9C0"/>
            </a:solidFill>
            <a:prstDash val="solid"/>
          </a:ln>
        </p:spPr>
      </p:sp>
      <p:pic>
        <p:nvPicPr>
          <p:cNvPr id="36" name="Image 5" descr="preencoded.png">
            <a:hlinkClick r:id="rId39" tooltip="" action="ppaction://hlinksldjump"/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915400" y="4297680"/>
            <a:ext cx="365760" cy="365760"/>
          </a:xfrm>
          <a:prstGeom prst="rect">
            <a:avLst/>
          </a:prstGeom>
        </p:spPr>
      </p:pic>
      <p:sp>
        <p:nvSpPr>
          <p:cNvPr id="37" name="Text 29">
            <a:hlinkClick r:id="rId40" tooltip="" action="ppaction://hlinksldjump"/>
          </p:cNvPr>
          <p:cNvSpPr/>
          <p:nvPr/>
        </p:nvSpPr>
        <p:spPr>
          <a:xfrm>
            <a:off x="11430000" y="3977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u="sng" dirty="0">
                <a:solidFill>
                  <a:srgbClr val="6C72A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1100" dirty="0"/>
          </a:p>
        </p:txBody>
      </p:sp>
      <p:sp>
        <p:nvSpPr>
          <p:cNvPr id="38" name="Text 30">
            <a:hlinkClick r:id="rId41" tooltip="" action="ppaction://hlinksldjump"/>
          </p:cNvPr>
          <p:cNvSpPr/>
          <p:nvPr/>
        </p:nvSpPr>
        <p:spPr>
          <a:xfrm>
            <a:off x="955548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Quick Quizzes &amp; Recap</a:t>
            </a:r>
            <a:endParaRPr lang="en-US" sz="1450" dirty="0"/>
          </a:p>
        </p:txBody>
      </p:sp>
      <p:sp>
        <p:nvSpPr>
          <p:cNvPr id="39" name="Text 31">
            <a:hlinkClick r:id="rId42" tooltip="" action="ppaction://hlinksldjump"/>
          </p:cNvPr>
          <p:cNvSpPr/>
          <p:nvPr/>
        </p:nvSpPr>
        <p:spPr>
          <a:xfrm>
            <a:off x="9555480" y="4617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u="sng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 what you’ve learned.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822960" y="58247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the home icon in the corner of any slide to come back here.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92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</a:t>
            </a:r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field of building computer systems that can perform tasks which normally require human intelligence — like recognizing speech, making decisions, or solving problems.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3611880"/>
            <a:ext cx="6492240" cy="1691640"/>
          </a:xfrm>
          <a:prstGeom prst="roundRect">
            <a:avLst>
              <a:gd name="adj" fmla="val 4324"/>
            </a:avLst>
          </a:prstGeom>
          <a:solidFill>
            <a:srgbClr val="EDEAFB"/>
          </a:solidFill>
          <a:ln/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862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379476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</a:t>
            </a:r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take in information, and use it to reason, learn, or decide — instead of just following one fixed, pre-written instruction every time.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7315200" y="1691640"/>
            <a:ext cx="4297680" cy="3611880"/>
          </a:xfrm>
          <a:prstGeom prst="roundRect">
            <a:avLst>
              <a:gd name="adj" fmla="val 2025"/>
            </a:avLst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63524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MEET AI EVERY DAY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635240" y="2331720"/>
            <a:ext cx="3703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assistant that understands your question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app that predicts what you’ll like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spam filter that learns new junk-mail patterns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E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app that recognizes faces in pictures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 · Foundations of AI</a:t>
            </a:r>
            <a:endParaRPr lang="en-US" sz="1050" dirty="0"/>
          </a:p>
        </p:txBody>
      </p:sp>
      <p:sp>
        <p:nvSpPr>
          <p:cNvPr id="15" name="Shape 10">
            <a:hlinkClick r:id="rId3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16" name="Image 2" descr="preencoded.png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System “Intelligent”?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generally agree an “intelligent” system shows most of these four abilities: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60320" cy="32918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560320"/>
            <a:ext cx="822960" cy="8229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27523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4023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 information from the world — text, images, sound, or sensor data.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2240280"/>
            <a:ext cx="2560320" cy="32918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2560320"/>
            <a:ext cx="822960" cy="8229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275234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520440" y="4023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that information to draw conclusions or make a decision.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2240280"/>
            <a:ext cx="2560320" cy="32918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95160" y="2560320"/>
            <a:ext cx="822960" cy="8229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275234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309360" y="4023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its performance over time as it sees more data or feedback.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915400" y="2240280"/>
            <a:ext cx="2560320" cy="329184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784080" y="2560320"/>
            <a:ext cx="822960" cy="8229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4" y="275234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5256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905256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9098280" y="40233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its behavior when the situation or input changes.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 · Foundations of AI</a:t>
            </a:r>
            <a:endParaRPr lang="en-US" sz="1050" dirty="0"/>
          </a:p>
        </p:txBody>
      </p:sp>
      <p:sp>
        <p:nvSpPr>
          <p:cNvPr id="31" name="Shape 24">
            <a:hlinkClick r:id="rId5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32" name="Image 4" descr="preencoded.png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Closer Look: Is It Really “Intelligent”?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“AI” is the same kind of smart. Most systems today fall into one category: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EDEAFB"/>
          </a:solidFill>
          <a:ln/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23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4231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 (what we have today)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good at one specific task — recognizing photos, translating text, recommending songs.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understanding beyond that task. A chess-playing AI can’t hold a conversation.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describes every real AI system in use today, including the ones in this class.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2148840"/>
            <a:ext cx="51206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231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24231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Intelligence (hypothetical)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55080" y="30632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reason across any subject the way a human can — learning one skill and applying it somewhere totally new.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understand context, meaning, and consequences, not just patterns in data.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Doesn’t exist yet — it’s a research goal and a topic of ongoing debate, not a product.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029200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0F2A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5029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angle: </a:t>
            </a:r>
            <a:pPr indent="0" marL="0">
              <a:buNone/>
            </a:pPr>
            <a:r>
              <a:rPr lang="en-US" sz="1250" dirty="0">
                <a:solidFill>
                  <a:srgbClr val="E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system is only ever good at one narrow task, should we still call it “intelligent”? Which of the four traits (perceive, reason, learn, adapt) would a system need to gain before you’d call it truly general?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 · Foundations of AI</a:t>
            </a:r>
            <a:endParaRPr lang="en-US" sz="1050" dirty="0"/>
          </a:p>
        </p:txBody>
      </p:sp>
      <p:sp>
        <p:nvSpPr>
          <p:cNvPr id="17" name="Shape 12">
            <a:hlinkClick r:id="rId3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18" name="Image 2" descr="preencoded.png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 VS AUTOMATION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vs. Automation: What’s the Difference?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476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fixed set of rules, in the same order, every time. It doesn’t learn or adjust — the same input always gives the same output.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169164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EDEAFB"/>
          </a:solidFill>
          <a:ln/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4767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19476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355080" y="24688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data to reason, learn, and decide. It can handle new, unexpected situations and often improves the more it’s used.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EXAMPLES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11064240" cy="169164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Everyday 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Example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temperature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timer turns the heat on at 6 AM daily, no matter what.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smart thermostat learns your schedule and adjusts itself.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email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autoresponder sends the same reply to every message.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chatbot reads the question and gives a relevant answer.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 mail/spam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rule blocks any email containing one exact word.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spam filter learns new junk patterns and improves over time.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 · AI vs Automation</a:t>
            </a:r>
            <a:endParaRPr lang="en-US" sz="1050" dirty="0"/>
          </a:p>
        </p:txBody>
      </p:sp>
      <p:sp>
        <p:nvSpPr>
          <p:cNvPr id="16" name="Shape 10">
            <a:hlinkClick r:id="rId3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17" name="Image 2" descr="preencoded.png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 VS AUTOMATION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Line Matters in the Real World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just a vocabulary exercise — the distinction has real consequences.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048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404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predictable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test — the same input always gives the same output.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fails, it usually fails obviously (an error message, a jam, a stall).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can’t handle a situation its rules didn’t anticipate.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35040" y="2148840"/>
            <a:ext cx="5120640" cy="2514600"/>
          </a:xfrm>
          <a:prstGeom prst="roundRect">
            <a:avLst>
              <a:gd name="adj" fmla="val 2909"/>
            </a:avLst>
          </a:prstGeom>
          <a:solidFill>
            <a:srgbClr val="EDEAFB"/>
          </a:solidFill>
          <a:ln/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04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2404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be confidently wrong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355080" y="297180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new situations — but its reasoning is often a “black box,” hard to fully explain.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mistake may not look like an error at all — a wrong prediction can be delivered as if it were certain.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makes human review and oversight essential, especially for high-stakes decisions.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892040"/>
            <a:ext cx="10607040" cy="777240"/>
          </a:xfrm>
          <a:prstGeom prst="roundRect">
            <a:avLst>
              <a:gd name="adj" fmla="val 8235"/>
            </a:avLst>
          </a:prstGeom>
          <a:solidFill>
            <a:srgbClr val="0F2A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8920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250" dirty="0">
                <a:solidFill>
                  <a:srgbClr val="E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whether a system is rule-based or AI-driven changes how much you should trust it, how you’d catch its mistakes, and who’s responsible when something goes wrong.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 · AI vs Automation</a:t>
            </a:r>
            <a:endParaRPr lang="en-US" sz="1050" dirty="0"/>
          </a:p>
        </p:txBody>
      </p:sp>
      <p:sp>
        <p:nvSpPr>
          <p:cNvPr id="17" name="Shape 12">
            <a:hlinkClick r:id="rId3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18" name="Image 2" descr="preencoded.png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 VS AUTOMATION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AI or Automation?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example, then click the button below to check your answers.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359152"/>
            <a:ext cx="4160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vending machine that dispenses a snack when you press B4.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194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423160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2359152"/>
            <a:ext cx="4160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music app that builds you a new playlist based on your listening habits.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959352"/>
            <a:ext cx="4160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wash that runs the exact same rinse-soap-rinse cycle every time.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37947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4023360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3959352"/>
            <a:ext cx="4160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navigation app that reroutes you in real time around a traffic jam.</a:t>
            </a:r>
            <a:endParaRPr lang="en-US" sz="1300" dirty="0"/>
          </a:p>
        </p:txBody>
      </p:sp>
      <p:sp>
        <p:nvSpPr>
          <p:cNvPr id="21" name="Shape 19">
            <a:hlinkClick r:id="rId1" tooltip="" action="ppaction://hlinksldjump"/>
          </p:cNvPr>
          <p:cNvSpPr/>
          <p:nvPr/>
        </p:nvSpPr>
        <p:spPr>
          <a:xfrm>
            <a:off x="4480560" y="5806440"/>
            <a:ext cx="3200400" cy="594360"/>
          </a:xfrm>
          <a:prstGeom prst="roundRect">
            <a:avLst>
              <a:gd name="adj" fmla="val 49231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22" name="Text 20">
            <a:hlinkClick r:id="rId2" tooltip="" action="ppaction://hlinksldjump"/>
          </p:cNvPr>
          <p:cNvSpPr/>
          <p:nvPr/>
        </p:nvSpPr>
        <p:spPr>
          <a:xfrm>
            <a:off x="4480560" y="58064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 Your Answers  →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 · AI vs Automation</a:t>
            </a:r>
            <a:endParaRPr lang="en-US" sz="1050" dirty="0"/>
          </a:p>
        </p:txBody>
      </p:sp>
      <p:sp>
        <p:nvSpPr>
          <p:cNvPr id="25" name="Shape 22">
            <a:hlinkClick r:id="rId3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6" name="Image 0" descr="preencoded.png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 VS AUTOMATION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379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Vending machine — press B4, always get the same snack.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08760" y="25877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031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8379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built from your listening habits.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040880" y="25877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033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381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wash running the identical cycle every time.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50876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0760" y="32918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7033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34381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app rerouting around live traffic.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04088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tell: automation repeats one fixed rule. AI uses data to sense, learn, or adapt its response.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 · AI vs Automation</a:t>
            </a:r>
            <a:endParaRPr lang="en-US" sz="1050" dirty="0"/>
          </a:p>
        </p:txBody>
      </p:sp>
      <p:sp>
        <p:nvSpPr>
          <p:cNvPr id="23" name="Shape 16">
            <a:hlinkClick r:id="rId5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4" name="Image 4" descr="preencoded.png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AI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You’ll Find AI: Part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already shows up across daily life — here are three areas to start with.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685800" cy="68580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6334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Life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assistants, photo tagging, map navigation, and personalized social-media feeds.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468880"/>
            <a:ext cx="685800" cy="68580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63347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practice apps, writing/grammar assistants, and tools that flag plagiarism.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945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468880"/>
            <a:ext cx="685800" cy="68580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6334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for customer service, fraud detection, and demand forecasting for inventory.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 · AI in Action (1 of 2)</a:t>
            </a:r>
            <a:endParaRPr lang="en-US" sz="1050" dirty="0"/>
          </a:p>
        </p:txBody>
      </p:sp>
      <p:sp>
        <p:nvSpPr>
          <p:cNvPr id="22" name="Shape 16">
            <a:hlinkClick r:id="rId4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3" name="Image 3" descr="preencoded.png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AI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You’ll Find AI: Part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more industries being reshaped by AI systems.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685800" cy="68580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6334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analysis that flags possible tumors, drug-discovery models, and patient risk prediction.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43400" y="21945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468880"/>
            <a:ext cx="685800" cy="68580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63347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assistance, route optimization, and predictive vehicle maintenance.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945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468880"/>
            <a:ext cx="685800" cy="68580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63347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337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12480" y="38404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engines for movies/music, AI-generated art, and smarter game opponents.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 · AI in Action (2 of 2)</a:t>
            </a:r>
            <a:endParaRPr lang="en-US" sz="1050" dirty="0"/>
          </a:p>
        </p:txBody>
      </p:sp>
      <p:sp>
        <p:nvSpPr>
          <p:cNvPr id="22" name="Shape 16">
            <a:hlinkClick r:id="rId4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3" name="Image 3" descr="preencoded.png">
            <a:hlinkClick r:id="rId6" tooltip="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AI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Benefit Comes with a Trade-off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area, AI offers a real benefit — but also something worth watching for.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379476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389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Everyday 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Personalized, time-saving experiences.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privacy; feeds can trap you in a “bubble” of similar content.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feedback and personalized practice.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Over-reliance risk; questions about academic integrity.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service; fraud caught earlier.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displacement; automated decisions can be unfair without oversight.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Healthcare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detection; faster research.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Mistakes are high-stakes; needs a human doctor in the loop.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Optimized routes; potential safety gains.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flawless in all conditions; unclear liability when it errs.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Entertainment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you’re more likely to enjoy.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bubbles; realistic AI-made media can mislead.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 · AI in Action</a:t>
            </a:r>
            <a:endParaRPr lang="en-US" sz="1050" dirty="0"/>
          </a:p>
        </p:txBody>
      </p:sp>
      <p:sp>
        <p:nvSpPr>
          <p:cNvPr id="8" name="Shape 4">
            <a:hlinkClick r:id="rId1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9" name="Image 0" descr="preencoded.png">
            <a:hlinkClick r:id="rId3" tooltip="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HOW AI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Works: The Basic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basic level, every AI system follows the same simple flow: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423160" cy="28803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606040"/>
            <a:ext cx="731520" cy="73152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3916" y="277977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8952" y="4142232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examples the system learns from (photos, text, numbers).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94660" y="3589020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2" name="Text 9"/>
          <p:cNvSpPr/>
          <p:nvPr/>
        </p:nvSpPr>
        <p:spPr>
          <a:xfrm>
            <a:off x="2994660" y="35707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337560" y="2331720"/>
            <a:ext cx="2423160" cy="28803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83380" y="2606040"/>
            <a:ext cx="731520" cy="73152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277977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33756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3502152" y="4142232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mathematical steps that finds patterns in that data.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737860" y="3589020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0" name="Text 16"/>
          <p:cNvSpPr/>
          <p:nvPr/>
        </p:nvSpPr>
        <p:spPr>
          <a:xfrm>
            <a:off x="5737860" y="35707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6080760" y="2331720"/>
            <a:ext cx="2423160" cy="28803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926580" y="2606040"/>
            <a:ext cx="731520" cy="73152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6" y="2779776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8076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08076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6245352" y="4142232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“brain” that results — stores the patterns it found.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8481060" y="3589020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8" name="Text 23"/>
          <p:cNvSpPr/>
          <p:nvPr/>
        </p:nvSpPr>
        <p:spPr>
          <a:xfrm>
            <a:off x="8481060" y="35707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823960" y="2331720"/>
            <a:ext cx="2423160" cy="288036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9669780" y="2606040"/>
            <a:ext cx="731520" cy="73152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3516" y="2779776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882396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8823960" y="3730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650" dirty="0"/>
          </a:p>
        </p:txBody>
      </p:sp>
      <p:sp>
        <p:nvSpPr>
          <p:cNvPr id="34" name="Text 28"/>
          <p:cNvSpPr/>
          <p:nvPr/>
        </p:nvSpPr>
        <p:spPr>
          <a:xfrm>
            <a:off x="8988552" y="4142232"/>
            <a:ext cx="2093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applies patterns to new input and gives an output.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 · How AI Works</a:t>
            </a:r>
            <a:endParaRPr lang="en-US" sz="1050" dirty="0"/>
          </a:p>
        </p:txBody>
      </p:sp>
      <p:sp>
        <p:nvSpPr>
          <p:cNvPr id="37" name="Shape 30">
            <a:hlinkClick r:id="rId5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38" name="Image 4" descr="preencoded.png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HOW AI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Concrete Example: Recognizing Cats in Photos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47672"/>
            <a:ext cx="594360" cy="5943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103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611880" y="1892808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photos labeled “cat” or “not a cat.”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99232"/>
            <a:ext cx="594360" cy="5943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154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4436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2944368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procedure looks for visual patterns — shapes, edges, textures — that separate the two labels.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50792"/>
            <a:ext cx="594360" cy="5943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062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99592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11880" y="3995928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finished, trained network that has “learned” what cat features look like.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5102352"/>
            <a:ext cx="594360" cy="5943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2578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04748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3611880" y="5047488"/>
            <a:ext cx="7818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 brand-new photo, the model outputs “94% likely a cat.”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608076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F2A4A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60807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300" dirty="0">
                <a:solidFill>
                  <a:srgbClr val="E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sees a hard-coded rule like “if whiskers, then cat.” It infers its own patterns directly from labeled data.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 · How AI Works</a:t>
            </a:r>
            <a:endParaRPr lang="en-US" sz="1050" dirty="0"/>
          </a:p>
        </p:txBody>
      </p:sp>
      <p:sp>
        <p:nvSpPr>
          <p:cNvPr id="28" name="Shape 21">
            <a:hlinkClick r:id="rId5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9" name="Image 4" descr="preencoded.png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HOW AI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Garbage In, Garbage Out: Why Data Quality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only learns what its training data shows it — gaps and bias in the data become gaps and bias in the model.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96312"/>
            <a:ext cx="594360" cy="5943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65176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4048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277063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systems were trained mostly on lighter-skinned faces. As a result, some performed noticeably worse at recognizing people with darker skin — not because of the algorithm alone, but because the training data wasn’t representative.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4096512"/>
            <a:ext cx="594360" cy="59436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425196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40050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Algorithms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45920" y="437083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trained on a company’s past resumes can learn to favor whatever pattern was common in previous hires. If those past hires skewed toward one group, the model can repeat that same bias — automatically, and at scale.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8235"/>
            </a:avLst>
          </a:prstGeom>
          <a:solidFill>
            <a:srgbClr val="0F2A4A"/>
          </a:solidFill>
          <a:ln/>
        </p:spPr>
      </p:sp>
      <p:sp>
        <p:nvSpPr>
          <p:cNvPr id="16" name="Text 12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pPr indent="0" marL="0">
              <a:buNone/>
            </a:pPr>
            <a:r>
              <a:rPr lang="en-US" sz="1250" dirty="0">
                <a:solidFill>
                  <a:srgbClr val="E7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only as good as the data it learns from. Incomplete or biased data doesn’t just limit accuracy — it can actively cause unfair or harmful outcomes.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 · How AI Works</a:t>
            </a:r>
            <a:endParaRPr lang="en-US" sz="1050" dirty="0"/>
          </a:p>
        </p:txBody>
      </p:sp>
      <p:sp>
        <p:nvSpPr>
          <p:cNvPr id="19" name="Shape 14">
            <a:hlinkClick r:id="rId3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0" name="Image 2" descr="preencoded.png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TYPES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Types of AI You’ll Hear About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3246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057400"/>
            <a:ext cx="640080" cy="64008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2128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8346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" y="3520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improve at a task by learning from data instead of fixed rules.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52928" y="1828800"/>
            <a:ext cx="2103120" cy="3246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4448" y="2057400"/>
            <a:ext cx="640080" cy="64008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221284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62656" y="28346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2990088" y="3520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using layered “neural networks” loosely inspired by the brain.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57216" y="1828800"/>
            <a:ext cx="2103120" cy="3246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888736" y="2057400"/>
            <a:ext cx="640080" cy="64008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22128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66944" y="28346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294376" y="3520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interprets images and video — recognizing objects, faces, or scenes.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461504" y="1828800"/>
            <a:ext cx="2103120" cy="3246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93024" y="2057400"/>
            <a:ext cx="640080" cy="64008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2128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71232" y="28346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598664" y="3520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understands and generates human language, spoken or written.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765792" y="1828800"/>
            <a:ext cx="2103120" cy="3246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497312" y="2057400"/>
            <a:ext cx="640080" cy="64008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2760" y="221284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75520" y="2834640"/>
            <a:ext cx="1883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902952" y="35204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creates brand-new text, images, audio, or code from a prompt.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 · Types of AI</a:t>
            </a:r>
            <a:endParaRPr lang="en-US" sz="1050" dirty="0"/>
          </a:p>
        </p:txBody>
      </p:sp>
      <p:sp>
        <p:nvSpPr>
          <p:cNvPr id="31" name="Shape 23">
            <a:hlinkClick r:id="rId6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32" name="Image 5" descr="preencoded.png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TYPES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the Types in Apps You Use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products usually combine more than one type of AI. A few familiar examples: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3794760"/>
        </p:xfrm>
        <a:graphic>
          <a:graphicData uri="http://schemas.openxmlformats.org/drawingml/2006/table">
            <a:tbl>
              <a:tblPr/>
              <a:tblGrid>
                <a:gridCol w="3017520"/>
                <a:gridCol w="475488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/ 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Type(s) of AI at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 unlock on a 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Recognizes your face to unlock the screen.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Netflix / Spotify recs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Suggests shows or songs you’re likely to enjoy.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Siri / Alexa / Google Assistant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Understands spoken questions and replies.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Language Processing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ChatGPT-style writing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original text from a prompt.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AI + NLP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 scan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possible tumors in X-rays or scans.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+ Computer 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Self-driving assist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lanes, pedestrians, and signs.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 + Deep Learning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 · Types of AI</a:t>
            </a:r>
            <a:endParaRPr lang="en-US" sz="1050" dirty="0"/>
          </a:p>
        </p:txBody>
      </p:sp>
      <p:sp>
        <p:nvSpPr>
          <p:cNvPr id="8" name="Shape 4">
            <a:hlinkClick r:id="rId1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9" name="Image 0" descr="preencoded.png">
            <a:hlinkClick r:id="rId3" tooltip="" action="ppaction://hlinksldjump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TYPES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Match the Type of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type of AI is mainly at work in each example below?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359152"/>
            <a:ext cx="4160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that unlocks your phone by scanning your face.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1945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2423160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49440" y="2359152"/>
            <a:ext cx="4160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writes an original short story from your prompt.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3959352"/>
            <a:ext cx="4160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assistant that understands and answers spoken questions.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37947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4E6F5"/>
            </a:solidFill>
            <a:prstDash val="solid"/>
          </a:ln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4023360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3959352"/>
            <a:ext cx="4160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with many neural-network layers that identifies tumors in X-rays.</a:t>
            </a:r>
            <a:endParaRPr lang="en-US" sz="1300" dirty="0"/>
          </a:p>
        </p:txBody>
      </p:sp>
      <p:sp>
        <p:nvSpPr>
          <p:cNvPr id="21" name="Shape 19">
            <a:hlinkClick r:id="rId1" tooltip="" action="ppaction://hlinksldjump"/>
          </p:cNvPr>
          <p:cNvSpPr/>
          <p:nvPr/>
        </p:nvSpPr>
        <p:spPr>
          <a:xfrm>
            <a:off x="4480560" y="5806440"/>
            <a:ext cx="3200400" cy="594360"/>
          </a:xfrm>
          <a:prstGeom prst="roundRect">
            <a:avLst>
              <a:gd name="adj" fmla="val 49231"/>
            </a:avLst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2700000">
              <a:srgbClr val="1B1F3B">
                <a:alpha val="12000"/>
              </a:srgbClr>
            </a:outerShdw>
          </a:effectLst>
        </p:spPr>
      </p:sp>
      <p:sp>
        <p:nvSpPr>
          <p:cNvPr id="22" name="Text 20">
            <a:hlinkClick r:id="rId2" tooltip="" action="ppaction://hlinksldjump"/>
          </p:cNvPr>
          <p:cNvSpPr/>
          <p:nvPr/>
        </p:nvSpPr>
        <p:spPr>
          <a:xfrm>
            <a:off x="4480560" y="58064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 Your Answers  →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 · Types of AI</a:t>
            </a:r>
            <a:endParaRPr lang="en-US" sz="1050" dirty="0"/>
          </a:p>
        </p:txBody>
      </p:sp>
      <p:sp>
        <p:nvSpPr>
          <p:cNvPr id="25" name="Shape 22">
            <a:hlinkClick r:id="rId3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6" name="Image 0" descr="preencoded.png">
            <a:hlinkClick r:id="rId5" tooltip="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TYPES OF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379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Face-scan unlock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08760" y="25877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80760" y="16916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031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18379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 original short story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040880" y="25877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033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4381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&amp; answers spoken questions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50876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0760" y="32918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183B61"/>
          </a:solidFill>
          <a:ln w="12700">
            <a:solidFill>
              <a:srgbClr val="2C4E7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70332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40880" y="3438144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Many-layer network reading X-rays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040880" y="41879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8640" y="4937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these categories overlap in real systems — a single product often blends several types.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 · Types of AI</a:t>
            </a:r>
            <a:endParaRPr lang="en-US" sz="1050" dirty="0"/>
          </a:p>
        </p:txBody>
      </p:sp>
      <p:sp>
        <p:nvSpPr>
          <p:cNvPr id="23" name="Shape 16">
            <a:hlinkClick r:id="rId5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4" name="Image 4" descr="preencoded.png">
            <a:hlinkClick r:id="rId7" tooltip="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191109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373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perceive, reason, learn, and adapt — that's what makes them “intelligent.”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" y="275234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7860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follows one fixed rule; AI uses data to change its behavior.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465576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" y="359359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41985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already touches daily life, school, business, healthcare, transportation &amp; entertainment.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306824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" y="443484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261104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data → algorithm → model → prediction.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5148072"/>
            <a:ext cx="502920" cy="502920"/>
          </a:xfrm>
          <a:prstGeom prst="ellipse">
            <a:avLst/>
          </a:prstGeom>
          <a:solidFill>
            <a:srgbClr val="EDEAF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" y="5276088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510235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types: Machine Learning, Deep Learning, Computer Vision, NLP, and Generative AI.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5486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exploring Artificial Intelligence with us!</a:t>
            </a:r>
            <a:endParaRPr lang="en-US" sz="1050" dirty="0"/>
          </a:p>
        </p:txBody>
      </p:sp>
      <p:sp>
        <p:nvSpPr>
          <p:cNvPr id="21" name="Shape 13">
            <a:hlinkClick r:id="rId6" tooltip="" action="ppaction://hlinksldjump"/>
          </p:cNvPr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pic>
        <p:nvPicPr>
          <p:cNvPr id="22" name="Image 5" descr="preencoded.png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35156" y="6323076"/>
            <a:ext cx="265176" cy="2651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6C5CE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00D9C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Questions?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C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back to the menu to revisit a topic, or retry either quiz.</a:t>
            </a:r>
            <a:endParaRPr lang="en-US" sz="16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822960" y="4206240"/>
            <a:ext cx="2926080" cy="594360"/>
          </a:xfrm>
          <a:prstGeom prst="roundRect">
            <a:avLst>
              <a:gd name="adj" fmla="val 49231"/>
            </a:avLst>
          </a:prstGeom>
          <a:solidFill>
            <a:srgbClr val="00D9C0"/>
          </a:solidFill>
          <a:ln/>
        </p:spPr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822960" y="4206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Back to Menu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217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8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Sukhdeep Kaur, Artificial Intelligence Instructor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subject>PptxGenJS Presentation</dc:subject>
  <dc:creator>AI Class</dc:creator>
  <cp:lastModifiedBy>AI Class</cp:lastModifiedBy>
  <cp:revision>1</cp:revision>
  <dcterms:created xsi:type="dcterms:W3CDTF">2026-07-07T23:24:03Z</dcterms:created>
  <dcterms:modified xsi:type="dcterms:W3CDTF">2026-07-07T23:24:03Z</dcterms:modified>
</cp:coreProperties>
</file>